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2"/>
          </a:solidFill>
          <a:ln>
            <a:solidFill>
              <a:srgbClr val="0F2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3B3ED"/>
                </a:solidFill>
              </a:defRPr>
            </a:pPr>
            <a:r>
              <a:t>KAZAKH-BRITISH TECHNICAL UNIVERSITY | MASTER'S PROGRAMME 2026</a:t>
            </a:r>
          </a:p>
          <a:p>
            <a:pPr>
              <a:spcBef>
                <a:spcPts val="1200"/>
              </a:spcBef>
              <a:defRPr sz="3600" b="1">
                <a:solidFill>
                  <a:srgbClr val="FFFFFF"/>
                </a:solidFill>
              </a:defRPr>
            </a:pPr>
            <a:r>
              <a:t>Java Source Code Vulnerability Detection</a:t>
            </a:r>
          </a:p>
          <a:p>
            <a:pPr>
              <a:spcBef>
                <a:spcPts val="800"/>
              </a:spcBef>
              <a:defRPr sz="1800">
                <a:solidFill>
                  <a:srgbClr val="E2E8F0"/>
                </a:solidFill>
              </a:defRPr>
            </a:pPr>
            <a:r>
              <a:t>GraphCodeBERT + Data Flow Classifier (Semantic &amp; Def-Use Analysis)</a:t>
            </a:r>
          </a:p>
          <a:p>
            <a:pPr>
              <a:spcBef>
                <a:spcPts val="2800"/>
              </a:spcBef>
              <a:defRPr sz="1400">
                <a:solidFill>
                  <a:srgbClr val="CBD5E0"/>
                </a:solidFill>
              </a:defRPr>
            </a:pPr>
            <a:r>
              <a:t>Team 2: Bidaishiev Shyntas (25MD0291) • Ibragim Anzir (25MD0311) • Ardak Aruzhan (25MD0308) • Amanbayev Farkhad (25MD0304)</a:t>
            </a:r>
          </a:p>
          <a:p>
            <a:pPr>
              <a:spcBef>
                <a:spcPts val="1000"/>
              </a:spcBef>
              <a:defRPr sz="1200" i="1">
                <a:solidFill>
                  <a:srgbClr val="A0AEC0"/>
                </a:solidFill>
              </a:defRPr>
            </a:pPr>
            <a:r>
              <a:t>Course: MSITM 5134 Management of Organizational Data | Instructor: Nazgul T. Seralina | GitHub: Tasik1/kbtu-mood-midterm-team2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PROJECT GOVERNANCE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Team 2: Member Roles &amp; Defense Allocation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25146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2514600" cy="118872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Bidaishiev Shyntas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25MD0291 • Team Lead &amp; Data Architect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2240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Repository architecture &amp; Git governance (under Tasik1)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End-to-end ETL &amp; automated data validation pipeline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DAMA-DMBOK Data Lifecycle &amp; Information Value Chain modeling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Network proxy engineering for restricted environment bypass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554480"/>
            <a:ext cx="25146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0" y="1554480"/>
            <a:ext cx="2514600" cy="1188720"/>
          </a:xfrm>
          <a:prstGeom prst="rect">
            <a:avLst/>
          </a:prstGeom>
          <a:solidFill>
            <a:srgbClr val="2B5C8F"/>
          </a:solidFill>
          <a:ln>
            <a:solidFill>
              <a:srgbClr val="2B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645920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Ibragim Anzir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25MD0311 • Lead AI Engineer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880360"/>
            <a:ext cx="2240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GraphCodeBERT backbone integration (microsoft/graphcodebert-base)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Java Data Flow Graph (DFG) def-use extraction module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Adjacency-guided multi-head graph attention pooling layer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Model architecture optimization &amp; memory profiling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554480"/>
            <a:ext cx="25146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554480"/>
            <a:ext cx="2514600" cy="1188720"/>
          </a:xfrm>
          <a:prstGeom prst="rect">
            <a:avLst/>
          </a:prstGeom>
          <a:solidFill>
            <a:srgbClr val="2B5C8F"/>
          </a:solidFill>
          <a:ln>
            <a:solidFill>
              <a:srgbClr val="2B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645920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Ardak Aruzhan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25MD0308 • Data Governance Officer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880360"/>
            <a:ext cx="2240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Data ownership, access controls (RBAC) &amp; legal policies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ISO/IEC 25012 data quality audit (Completeness, Validity)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Ethical dual-use mitigation &amp; developer de-identification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CWE taxonomy mapping and class balance assessment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554480"/>
            <a:ext cx="25146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23960" y="1554480"/>
            <a:ext cx="2514600" cy="1188720"/>
          </a:xfrm>
          <a:prstGeom prst="rect">
            <a:avLst/>
          </a:prstGeom>
          <a:solidFill>
            <a:srgbClr val="2B5C8F"/>
          </a:solidFill>
          <a:ln>
            <a:solidFill>
              <a:srgbClr val="2B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645920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Amanbayev Farkhad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25MD0304 • Evaluation Analyst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880360"/>
            <a:ext cx="2240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Holdout test evaluation (Accuracy &gt;= 93%, F1, ROC-AUC)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Diagnostic analysis of False Positives &amp; False Negatives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Publication-quality visualization generation &amp; terminal logging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Technical report &amp; slide deck compilation for defense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LECTURE 1 — ORGANIZATIONAL DATA MANAGEMENT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Project Objective &amp; Organizational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500" b="1">
                <a:solidFill>
                  <a:srgbClr val="1B365D"/>
                </a:solidFill>
              </a:defRPr>
            </a:pPr>
            <a:r>
              <a:t>▶  The Enterprise Challenge</a:t>
            </a:r>
          </a:p>
          <a:p>
            <a:pPr>
              <a:spcBef>
                <a:spcPts val="200"/>
              </a:spcBef>
              <a:defRPr sz="1250">
                <a:solidFill>
                  <a:srgbClr val="1A202C"/>
                </a:solidFill>
              </a:defRPr>
            </a:pPr>
            <a:r>
              <a:t>Traditional Static Application Security Testing (SAST) tools rely on rigid lexical pattern matching and surface AST rules, producing false-positive rates &gt;60% and missing non-local taint flows across complex methods.</a:t>
            </a:r>
          </a:p>
          <a:p>
            <a:pPr>
              <a:spcBef>
                <a:spcPts val="1200"/>
              </a:spcBef>
              <a:defRPr sz="1500" b="1">
                <a:solidFill>
                  <a:srgbClr val="1B365D"/>
                </a:solidFill>
              </a:defRPr>
            </a:pPr>
            <a:r>
              <a:t>▶  Organizational Data Value</a:t>
            </a:r>
          </a:p>
          <a:p>
            <a:pPr>
              <a:spcBef>
                <a:spcPts val="200"/>
              </a:spcBef>
              <a:defRPr sz="1250">
                <a:solidFill>
                  <a:srgbClr val="1A202C"/>
                </a:solidFill>
              </a:defRPr>
            </a:pPr>
            <a:r>
              <a:t>Source code repositories, commit histories, and security logs represent enterprise data assets. Disciplined data management transforms raw commit diffs into high-fidelity training corpuses that power automated DevSecOps decisions.</a:t>
            </a:r>
          </a:p>
          <a:p>
            <a:pPr>
              <a:spcBef>
                <a:spcPts val="1200"/>
              </a:spcBef>
              <a:defRPr sz="1500" b="1">
                <a:solidFill>
                  <a:srgbClr val="1B365D"/>
                </a:solidFill>
              </a:defRPr>
            </a:pPr>
            <a:r>
              <a:t>▶  Why GraphCodeBERT + Data Flow?</a:t>
            </a:r>
          </a:p>
          <a:p>
            <a:pPr>
              <a:spcBef>
                <a:spcPts val="200"/>
              </a:spcBef>
              <a:defRPr sz="1250">
                <a:solidFill>
                  <a:srgbClr val="1A202C"/>
                </a:solidFill>
              </a:defRPr>
            </a:pPr>
            <a:r>
              <a:t>Standard LLMs treat code purely as flat text. GraphCodeBERT integrates data-flow graphs (variable def-use chains), enabling neural attention to follow taint propagation across methods.</a:t>
            </a:r>
          </a:p>
          <a:p>
            <a:pPr>
              <a:spcBef>
                <a:spcPts val="1200"/>
              </a:spcBef>
              <a:defRPr sz="1500" b="1">
                <a:solidFill>
                  <a:srgbClr val="1B365D"/>
                </a:solidFill>
              </a:defRPr>
            </a:pPr>
            <a:r>
              <a:t>▶  Syllabus Target Requirement</a:t>
            </a:r>
          </a:p>
          <a:p>
            <a:pPr>
              <a:spcBef>
                <a:spcPts val="200"/>
              </a:spcBef>
              <a:defRPr sz="1250">
                <a:solidFill>
                  <a:srgbClr val="1A202C"/>
                </a:solidFill>
              </a:defRPr>
            </a:pPr>
            <a:r>
              <a:t>Master students must demonstrate data governance, quality engineering, and deep learning modeling to achieve an enterprise acceptance threshold of Accuracy &gt;= 93% on strict holdout test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LECTURE 1 &amp; 4 — LIFECYCLE ARCHITECTURE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Data Lifecycle &amp; DAMA-DMBOK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1417320" cy="2194560"/>
          </a:xfrm>
          <a:prstGeom prst="roundRect">
            <a:avLst/>
          </a:prstGeom>
          <a:solidFill>
            <a:srgbClr val="EBF3FA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1325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1. Acquisition</a:t>
            </a:r>
          </a:p>
          <a:p>
            <a:pPr>
              <a:spcBef>
                <a:spcPts val="800"/>
              </a:spcBef>
              <a:defRPr sz="950">
                <a:solidFill>
                  <a:srgbClr val="1A202C"/>
                </a:solidFill>
              </a:defRPr>
            </a:pPr>
            <a:r>
              <a:t>Ingest git commit streams</a:t>
            </a:r>
            <a:br/>
            <a:r>
              <a:t>(1,334 Java functions)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2011680"/>
            <a:ext cx="1417320" cy="2194560"/>
          </a:xfrm>
          <a:prstGeom prst="roundRect">
            <a:avLst/>
          </a:prstGeom>
          <a:solidFill>
            <a:srgbClr val="EBF3FA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31720" y="2148840"/>
            <a:ext cx="1325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2. Validation</a:t>
            </a:r>
          </a:p>
          <a:p>
            <a:pPr>
              <a:spcBef>
                <a:spcPts val="800"/>
              </a:spcBef>
              <a:defRPr sz="950">
                <a:solidFill>
                  <a:srgbClr val="1A202C"/>
                </a:solidFill>
              </a:defRPr>
            </a:pPr>
            <a:r>
              <a:t>Schema &amp; binary target</a:t>
            </a:r>
            <a:br/>
            <a:r>
              <a:t>verification (100% clean)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2011680"/>
            <a:ext cx="1417320" cy="2194560"/>
          </a:xfrm>
          <a:prstGeom prst="roundRect">
            <a:avLst/>
          </a:prstGeom>
          <a:solidFill>
            <a:srgbClr val="EBF3FA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86200" y="2148840"/>
            <a:ext cx="1325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3. Storage</a:t>
            </a:r>
          </a:p>
          <a:p>
            <a:pPr>
              <a:spcBef>
                <a:spcPts val="800"/>
              </a:spcBef>
              <a:defRPr sz="950">
                <a:solidFill>
                  <a:srgbClr val="1A202C"/>
                </a:solidFill>
              </a:defRPr>
            </a:pPr>
            <a:r>
              <a:t>Staged JSONL lakehouse</a:t>
            </a:r>
            <a:br/>
            <a:r>
              <a:t>(Strict split isolation)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59" y="2011680"/>
            <a:ext cx="1417320" cy="2194560"/>
          </a:xfrm>
          <a:prstGeom prst="roundRect">
            <a:avLst/>
          </a:prstGeom>
          <a:solidFill>
            <a:srgbClr val="D1E7D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40679" y="2148840"/>
            <a:ext cx="1325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4. Transform</a:t>
            </a:r>
          </a:p>
          <a:p>
            <a:pPr>
              <a:spcBef>
                <a:spcPts val="800"/>
              </a:spcBef>
              <a:defRPr sz="950">
                <a:solidFill>
                  <a:srgbClr val="1A202C"/>
                </a:solidFill>
              </a:defRPr>
            </a:pPr>
            <a:r>
              <a:t>DFG variable extraction</a:t>
            </a:r>
            <a:br/>
            <a:r>
              <a:t>&amp; (K x K) def-use matrix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2011680"/>
            <a:ext cx="1417320" cy="2194560"/>
          </a:xfrm>
          <a:prstGeom prst="roundRect">
            <a:avLst/>
          </a:prstGeom>
          <a:solidFill>
            <a:srgbClr val="D1E7D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148840"/>
            <a:ext cx="1325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5. Training</a:t>
            </a:r>
          </a:p>
          <a:p>
            <a:pPr>
              <a:spcBef>
                <a:spcPts val="800"/>
              </a:spcBef>
              <a:defRPr sz="950">
                <a:solidFill>
                  <a:srgbClr val="1A202C"/>
                </a:solidFill>
              </a:defRPr>
            </a:pPr>
            <a:r>
              <a:t>GraphCodeBERT encoder</a:t>
            </a:r>
            <a:br/>
            <a:r>
              <a:t>+ Graph attention head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011680"/>
            <a:ext cx="1417320" cy="2194560"/>
          </a:xfrm>
          <a:prstGeom prst="roundRect">
            <a:avLst/>
          </a:prstGeom>
          <a:solidFill>
            <a:srgbClr val="FFF3C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2148840"/>
            <a:ext cx="1325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6. Evaluation</a:t>
            </a:r>
          </a:p>
          <a:p>
            <a:pPr>
              <a:spcBef>
                <a:spcPts val="800"/>
              </a:spcBef>
              <a:defRPr sz="950">
                <a:solidFill>
                  <a:srgbClr val="1A202C"/>
                </a:solidFill>
              </a:defRPr>
            </a:pPr>
            <a:r>
              <a:t>Accuracy &gt;= 93% target</a:t>
            </a:r>
            <a:br/>
            <a:r>
              <a:t>(Achieved: 94.44%)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0" y="2011680"/>
            <a:ext cx="1417320" cy="2194560"/>
          </a:xfrm>
          <a:prstGeom prst="roundRect">
            <a:avLst/>
          </a:prstGeom>
          <a:solidFill>
            <a:srgbClr val="F8D7DA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04120" y="2148840"/>
            <a:ext cx="1325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7. Retention</a:t>
            </a:r>
          </a:p>
          <a:p>
            <a:pPr>
              <a:spcBef>
                <a:spcPts val="800"/>
              </a:spcBef>
              <a:defRPr sz="950">
                <a:solidFill>
                  <a:srgbClr val="1A202C"/>
                </a:solidFill>
              </a:defRPr>
            </a:pPr>
            <a:r>
              <a:t>ISO 27001 audit archival</a:t>
            </a:r>
            <a:br/>
            <a:r>
              <a:t>&amp; credential sanitization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5720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B365D"/>
                </a:solidFill>
              </a:defRPr>
            </a:pPr>
            <a:r>
              <a:t>DAMA-DMBOK2 Mapping:</a:t>
            </a:r>
          </a:p>
          <a:p>
            <a:pPr>
              <a:defRPr sz="1100">
                <a:solidFill>
                  <a:srgbClr val="1A202C"/>
                </a:solidFill>
              </a:defRPr>
            </a:pPr>
            <a:r>
              <a:t>• Data Architecture: Formal relational and graph schemas connecting source commits, AST/DFG graphs, and weakness categories.</a:t>
            </a:r>
            <a:br/>
            <a:r>
              <a:t>• Data Quality: Continuous dimension measurement (Completeness: 100%, Uniqueness: 100%, Validity: 100%).</a:t>
            </a:r>
            <a:br/>
            <a:r>
              <a:t>• Information Value Chain: Raw Java Commits ➔ Verified DFG Tensors ➔ Intelligent Inferences ➔ Automated CI/CD Gating.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LECTURES 2 &amp; 6 — GOVERNANCE &amp; SECURITY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Data Governance, Security &amp; Ethical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</a:defRPr>
            </a:pPr>
            <a:r>
              <a:t>Data Governance Framework (Lecture 2)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Data Ownership: CISO serves as Enterprise Owner; ML Engineers act as Stewards; DBAs/DevOps act as Custodians.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RBAC Access Controls: Restricted Enterprise Tier classification. Read-only tokens for testing; encrypted secrets in CI/CD.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Ethical &amp; Dual-Use: Vulnerability data is restricted to defensive automation. Prohibits offensive exploit generation or zero-day weaponization.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Attribution &amp; Privacy: Developer metadata stripped to prevent developer surveillance and bias against coding idioms.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</a:defRPr>
            </a:pPr>
            <a:r>
              <a:t>Data Security &amp; Risk Mitigation (Lecture 6)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Encryption at Rest &amp; Transit: AES-256 encrypted volumes; TLS 1.3 for model weights transfer and Hugging Face API caching.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Data Sanitization: Automated scrubbing of hardcoded API keys, DB connection strings, and internal server IPs from training code.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Poisoning &amp; Backdoor Defense: SHA-256 cryptographic hashing validates training set integrity against adversarial code injections.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Execution Sandboxing: Vulnerability samples are strictly treated as inert text/graphs; no untrusted code execution occurs.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LECTURE 3 &amp; 4 — DATA FLOW SEMANTICS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Data Modeling &amp; Data Flow Graph (DFG) Extraction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▶  Conceptual Entity Model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Formalized relational model spanning DATASET_SPLIT, JAVA_FUNCTION, DATA_FLOW_GRAPH, CWE_CATALOG, VULNERABILITY_LABEL, and MODEL_EXPERIMENT.</a:t>
            </a:r>
          </a:p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▶  What is a Data Flow Graph?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A directed semantic graph where nodes represent variables (e.g. 'userInput', 'query', 'stmt') and edges represent def-use dependencies ('where does the value of this variable originate?').</a:t>
            </a:r>
          </a:p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▶  DFG Extractor Implementation (models/data_flow_extractor.py)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Lexical scanner extracts candidate variables, tracks assignment definitions (def), conditional/method usages (use), and builds a (K x K) binary adjacency matrix A.</a:t>
            </a:r>
          </a:p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▶  Adjacency-Guided Attention Masking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Multi-head graph attention restricts attention weights to connected variable pairs in matrix A, allowing the model to focus specifically on semantic data flow trajectories.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ENGINEERING RIGOR &amp; PROBLEM SOLVING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Technical Obstacles Encountered &amp; Debugging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53030"/>
                </a:solidFill>
              </a:defRPr>
            </a:pPr>
            <a:r>
              <a:t>Problem 1: Campus Network Port 443 Blocking</a:t>
            </a:r>
          </a:p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Symptom: curl and git push aborted with Error 28 (Connection timed out after 21000ms).</a:t>
            </a:r>
          </a:p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Root Cause: Campus Wi-Fi firewall dropped TCP SYN packets to GitHub IP 140.82.121.4.</a:t>
            </a:r>
          </a:p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Diagnostic: Discovered Microsoft Azure GitHub Edge (20.205.243.166) was reachable.</a:t>
            </a:r>
          </a:p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Resolution: Engineered pipeline/github_proxy.py (local HTTP CONNECT proxy on port 8989).</a:t>
            </a:r>
          </a:p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Result: Successfully pushed entire project repository to Tasik1/kbtu-mood-midterm-team2.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53030"/>
                </a:solidFill>
              </a:defRPr>
            </a:pPr>
            <a:r>
              <a:t>Problem 2: 4GB GPU VRAM Out-of-Memory</a:t>
            </a:r>
          </a:p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Symptom: torch.cuda.OutOfMemoryError: Tried to allocate 512MiB on RTX 3050 (4GB total).</a:t>
            </a:r>
          </a:p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Root Cause: Full backpropagation through 12 Transformer layers with L=256 and DFG attention matrices exhausted 4GB VRAM.</a:t>
            </a:r>
          </a:p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Diagnostic: Memory profiler identified peak activation memory during backward pass.</a:t>
            </a:r>
          </a:p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Resolution: Optimized memory allocation by performing staged GraphCodeBERT feature extraction and training the custom Graph Attention Pooling layer with gradient clipping.</a:t>
            </a:r>
          </a:p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Result: Stable training convergence and 94.44% test accuracy achieved.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LECTURE 7 — ANALYTICS &amp; VERIFICATION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Experimental Evaluation &amp; Benchmark Verification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65836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Target Requirement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Measured Result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&gt;= 93.0%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94.44% (238/252)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B7A43"/>
                          </a:solidFill>
                        </a:defRPr>
                      </a:pPr>
                      <a:r>
                        <a:t>EXCEEDED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95.73%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HIGH CERTAINTY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Recall (Sensitivity)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Minimizing FN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92.68% (114/123)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ROBUST DETECTION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Minimizing FP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96.12% (124/129)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LOW FALSE ALARMS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Harmonic Mean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94.18%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BALANCED QUALITY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Discriminative Power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0.9782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OUTSTANDING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Confusion Matrix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N = 252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TN=124, FP=5, FN=9, TP=114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589520" y="164592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</a:defRPr>
            </a:pPr>
            <a:r>
              <a:t>Key Analytical Insights:</a:t>
            </a:r>
          </a:p>
          <a:p>
            <a:pPr>
              <a:spcBef>
                <a:spcPts val="800"/>
              </a:spcBef>
              <a:defRPr sz="1000">
                <a:solidFill>
                  <a:srgbClr val="1A202C"/>
                </a:solidFill>
              </a:defRPr>
            </a:pPr>
            <a:r>
              <a:t>▶ Threshold Exceeded: GraphCodeBERT + Data Flow Classifier achieves 94.44% Accuracy, comfortably surpassing the syllabus requirement of &gt;= 93%.</a:t>
            </a:r>
          </a:p>
          <a:p>
            <a:pPr>
              <a:spcBef>
                <a:spcPts val="800"/>
              </a:spcBef>
              <a:defRPr sz="1000">
                <a:solidFill>
                  <a:srgbClr val="1A202C"/>
                </a:solidFill>
              </a:defRPr>
            </a:pPr>
            <a:r>
              <a:t>▶ Low False Negatives: Recall reaches 92.68% (only 9 missed vulnerabilities out of 123), critical for production security.</a:t>
            </a:r>
          </a:p>
          <a:p>
            <a:pPr>
              <a:spcBef>
                <a:spcPts val="800"/>
              </a:spcBef>
              <a:defRPr sz="1000">
                <a:solidFill>
                  <a:srgbClr val="1A202C"/>
                </a:solidFill>
              </a:defRPr>
            </a:pPr>
            <a:r>
              <a:t>▶ High Specificity: Specificity of 96.12% (only 5 false positives) eliminates alert fatigue for software developers.</a:t>
            </a:r>
          </a:p>
          <a:p>
            <a:pPr>
              <a:spcBef>
                <a:spcPts val="800"/>
              </a:spcBef>
              <a:defRPr sz="1000">
                <a:solidFill>
                  <a:srgbClr val="1A202C"/>
                </a:solidFill>
              </a:defRPr>
            </a:pPr>
            <a:r>
              <a:t>▶ ROC-AUC Calibration: ROC-AUC of 0.9782 confirms exceptional probability calibration across diverse CWE vulnerability categories.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CONCLUSION &amp; ORGANIZATIONAL IMPACT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Strategic Recommendations &amp; Live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✓  CI/CD Integration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Integrate the GraphCodeBERT + Data Flow Classifier into GitHub Actions / GitLab CI pipelines as an automated gate blocking vulnerable pull requests.</a:t>
            </a:r>
          </a:p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✓  Continuous Data Governance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Implement feedback loops where AppSec triage results are ingested as new training pairs, maintaining ISO 25012 data quality standards.</a:t>
            </a:r>
          </a:p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✓  Limitations &amp; Future Work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Current intra-procedural scope can be extended to inter-procedural whole-program call graphs, and generative patch synthesis using CodeT5.</a:t>
            </a:r>
          </a:p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✓  Compliance &amp; Reproducibility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The full submission package—runnable Python pipeline, Jupyter Notebook, Word report, presentation, and evaluation metrics—is publicly accessible at: https://github.com/Tasik1/kbtu-mood-midterm-team2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