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2"/>
          </a:solidFill>
          <a:ln>
            <a:solidFill>
              <a:srgbClr val="0F2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B3ED"/>
                </a:solidFill>
              </a:defRPr>
            </a:pPr>
            <a:r>
              <a:t>KAZAKH-BRITISH TECHNICAL UNIVERSITY | MASTER'S PROGRAMME 2026</a:t>
            </a:r>
          </a:p>
          <a:p>
            <a:pPr>
              <a:spcBef>
                <a:spcPts val="1200"/>
              </a:spcBef>
              <a:defRPr sz="3600" b="1">
                <a:solidFill>
                  <a:srgbClr val="FFFFFF"/>
                </a:solidFill>
              </a:defRPr>
            </a:pPr>
            <a:r>
              <a:t>Java Source Code Vulnerability Detection</a:t>
            </a:r>
          </a:p>
          <a:p>
            <a:pPr>
              <a:spcBef>
                <a:spcPts val="800"/>
              </a:spcBef>
              <a:defRPr sz="1800">
                <a:solidFill>
                  <a:srgbClr val="E2E8F0"/>
                </a:solidFill>
              </a:defRPr>
            </a:pPr>
            <a:r>
              <a:t>GraphCodeBERT + Data Flow Classifier (Semantic &amp; Def-Use Analysis)</a:t>
            </a:r>
          </a:p>
          <a:p>
            <a:pPr>
              <a:spcBef>
                <a:spcPts val="2800"/>
              </a:spcBef>
              <a:defRPr sz="1400">
                <a:solidFill>
                  <a:srgbClr val="CBD5E0"/>
                </a:solidFill>
              </a:defRPr>
            </a:pPr>
            <a:r>
              <a:t>Team 2: Bidaishiev Shyntas (25MD0291) • Ibragim Anzir (25MD0311) • Ardak Aruzhan (25MD0308) • Amanbayev Farkhad (25MD0304)</a:t>
            </a:r>
          </a:p>
          <a:p>
            <a:pPr>
              <a:spcBef>
                <a:spcPts val="1000"/>
              </a:spcBef>
              <a:defRPr sz="1200" i="1">
                <a:solidFill>
                  <a:srgbClr val="A0AEC0"/>
                </a:solidFill>
              </a:defRPr>
            </a:pPr>
            <a:r>
              <a:t>Course: MSITM 5134 Management of Organizational Data | Instructor: Nazgul T. Seralina | GitHub: Tasik1/kbtu-mood-midterm-team2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000" b="1">
                <a:solidFill>
                  <a:srgbClr val="1B7A82"/>
                </a:solidFill>
              </a:defRPr>
            </a:pPr>
            <a:r>
              <a:t>PROJECT GOVERNANCE</a:t>
            </a:r>
          </a:p>
          <a:p>
            <a:pPr>
              <a:spcBef>
                <a:spcPts val="400"/>
              </a:spcBef>
              <a:defRPr sz="2400" b="1">
                <a:solidFill>
                  <a:srgbClr val="1B365D"/>
                </a:solidFill>
              </a:defRPr>
            </a:pPr>
            <a:r>
              <a:t>Team 2: Member Roles &amp; Defense Allocation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5146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2514600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Bidaishiev Shyntas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25MD0291 • Team Lead &amp; Data Architect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2240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950">
                <a:solidFill>
                  <a:srgbClr val="1A202C"/>
                </a:solidFill>
              </a:defRPr>
            </a:pPr>
            <a:r>
              <a:t>• Repository architecture &amp; Git governance (under Tasik1)</a:t>
            </a:r>
          </a:p>
          <a:p>
            <a:pPr>
              <a:spcBef>
                <a:spcPts val="600"/>
              </a:spcBef>
              <a:defRPr sz="950">
                <a:solidFill>
                  <a:srgbClr val="1A202C"/>
                </a:solidFill>
              </a:defRPr>
            </a:pPr>
            <a:r>
              <a:t>• End-to-end ETL &amp; automated data validation pipeline</a:t>
            </a:r>
          </a:p>
          <a:p>
            <a:pPr>
              <a:spcBef>
                <a:spcPts val="600"/>
              </a:spcBef>
              <a:defRPr sz="950">
                <a:solidFill>
                  <a:srgbClr val="1A202C"/>
                </a:solidFill>
              </a:defRPr>
            </a:pPr>
            <a:r>
              <a:t>• DAMA-DMBOK Data Lifecycle &amp; Information Value Chain modeling</a:t>
            </a:r>
          </a:p>
          <a:p>
            <a:pPr>
              <a:spcBef>
                <a:spcPts val="600"/>
              </a:spcBef>
              <a:defRPr sz="950">
                <a:solidFill>
                  <a:srgbClr val="1A202C"/>
                </a:solidFill>
              </a:defRPr>
            </a:pPr>
            <a:r>
              <a:t>• Network proxy engineering for restricted environment bypass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554480"/>
            <a:ext cx="25146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9000" y="1554480"/>
            <a:ext cx="2514600" cy="1188720"/>
          </a:xfrm>
          <a:prstGeom prst="rect">
            <a:avLst/>
          </a:prstGeom>
          <a:solidFill>
            <a:srgbClr val="2B5C8F"/>
          </a:solidFill>
          <a:ln>
            <a:solidFill>
              <a:srgbClr val="2B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64592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Ibragim Anzir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25MD0311 • Lead AI Engineer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880360"/>
            <a:ext cx="2240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950">
                <a:solidFill>
                  <a:srgbClr val="1A202C"/>
                </a:solidFill>
              </a:defRPr>
            </a:pPr>
            <a:r>
              <a:t>• GraphCodeBERT backbone integration (microsoft/graphcodebert-base)</a:t>
            </a:r>
          </a:p>
          <a:p>
            <a:pPr>
              <a:spcBef>
                <a:spcPts val="600"/>
              </a:spcBef>
              <a:defRPr sz="950">
                <a:solidFill>
                  <a:srgbClr val="1A202C"/>
                </a:solidFill>
              </a:defRPr>
            </a:pPr>
            <a:r>
              <a:t>• Java Data Flow Graph (DFG) def-use extraction module</a:t>
            </a:r>
          </a:p>
          <a:p>
            <a:pPr>
              <a:spcBef>
                <a:spcPts val="600"/>
              </a:spcBef>
              <a:defRPr sz="950">
                <a:solidFill>
                  <a:srgbClr val="1A202C"/>
                </a:solidFill>
              </a:defRPr>
            </a:pPr>
            <a:r>
              <a:t>• Adjacency-guided multi-head graph attention pooling layer</a:t>
            </a:r>
          </a:p>
          <a:p>
            <a:pPr>
              <a:spcBef>
                <a:spcPts val="600"/>
              </a:spcBef>
              <a:defRPr sz="950">
                <a:solidFill>
                  <a:srgbClr val="1A202C"/>
                </a:solidFill>
              </a:defRPr>
            </a:pPr>
            <a:r>
              <a:t>• Model architecture optimization &amp; memory profiling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54480"/>
            <a:ext cx="25146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554480"/>
            <a:ext cx="2514600" cy="1188720"/>
          </a:xfrm>
          <a:prstGeom prst="rect">
            <a:avLst/>
          </a:prstGeom>
          <a:solidFill>
            <a:srgbClr val="2B5C8F"/>
          </a:solidFill>
          <a:ln>
            <a:solidFill>
              <a:srgbClr val="2B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64592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Ardak Aruzhan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25MD0308 • Data Governance Officer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880360"/>
            <a:ext cx="2240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950">
                <a:solidFill>
                  <a:srgbClr val="1A202C"/>
                </a:solidFill>
              </a:defRPr>
            </a:pPr>
            <a:r>
              <a:t>• Data ownership, access controls (RBAC) &amp; legal policies</a:t>
            </a:r>
          </a:p>
          <a:p>
            <a:pPr>
              <a:spcBef>
                <a:spcPts val="600"/>
              </a:spcBef>
              <a:defRPr sz="950">
                <a:solidFill>
                  <a:srgbClr val="1A202C"/>
                </a:solidFill>
              </a:defRPr>
            </a:pPr>
            <a:r>
              <a:t>• ISO/IEC 25012 data quality audit (Completeness, Validity)</a:t>
            </a:r>
          </a:p>
          <a:p>
            <a:pPr>
              <a:spcBef>
                <a:spcPts val="600"/>
              </a:spcBef>
              <a:defRPr sz="950">
                <a:solidFill>
                  <a:srgbClr val="1A202C"/>
                </a:solidFill>
              </a:defRPr>
            </a:pPr>
            <a:r>
              <a:t>• Ethical dual-use mitigation &amp; developer de-identification</a:t>
            </a:r>
          </a:p>
          <a:p>
            <a:pPr>
              <a:spcBef>
                <a:spcPts val="600"/>
              </a:spcBef>
              <a:defRPr sz="950">
                <a:solidFill>
                  <a:srgbClr val="1A202C"/>
                </a:solidFill>
              </a:defRPr>
            </a:pPr>
            <a:r>
              <a:t>• CWE taxonomy mapping and class balance assessment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554480"/>
            <a:ext cx="25146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23960" y="1554480"/>
            <a:ext cx="2514600" cy="1188720"/>
          </a:xfrm>
          <a:prstGeom prst="rect">
            <a:avLst/>
          </a:prstGeom>
          <a:solidFill>
            <a:srgbClr val="2B5C8F"/>
          </a:solidFill>
          <a:ln>
            <a:solidFill>
              <a:srgbClr val="2B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64592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Amanbayev Farkhad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25MD0304 • Evaluation Analyst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880360"/>
            <a:ext cx="2240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950">
                <a:solidFill>
                  <a:srgbClr val="1A202C"/>
                </a:solidFill>
              </a:defRPr>
            </a:pPr>
            <a:r>
              <a:t>• Holdout test evaluation (Accuracy &gt;= 93%, F1, ROC-AUC)</a:t>
            </a:r>
          </a:p>
          <a:p>
            <a:pPr>
              <a:spcBef>
                <a:spcPts val="600"/>
              </a:spcBef>
              <a:defRPr sz="950">
                <a:solidFill>
                  <a:srgbClr val="1A202C"/>
                </a:solidFill>
              </a:defRPr>
            </a:pPr>
            <a:r>
              <a:t>• Diagnostic analysis of False Positives &amp; False Negatives</a:t>
            </a:r>
          </a:p>
          <a:p>
            <a:pPr>
              <a:spcBef>
                <a:spcPts val="600"/>
              </a:spcBef>
              <a:defRPr sz="950">
                <a:solidFill>
                  <a:srgbClr val="1A202C"/>
                </a:solidFill>
              </a:defRPr>
            </a:pPr>
            <a:r>
              <a:t>• Publication-quality visualization generation &amp; terminal logging</a:t>
            </a:r>
          </a:p>
          <a:p>
            <a:pPr>
              <a:spcBef>
                <a:spcPts val="600"/>
              </a:spcBef>
              <a:defRPr sz="950">
                <a:solidFill>
                  <a:srgbClr val="1A202C"/>
                </a:solidFill>
              </a:defRPr>
            </a:pPr>
            <a:r>
              <a:t>• Technical report &amp; slide deck compilation for defense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000" b="1">
                <a:solidFill>
                  <a:srgbClr val="1B7A82"/>
                </a:solidFill>
              </a:defRPr>
            </a:pPr>
            <a:r>
              <a:t>LECTURE 1 — ORGANIZATIONAL DATA MANAGEMENT</a:t>
            </a:r>
          </a:p>
          <a:p>
            <a:pPr>
              <a:spcBef>
                <a:spcPts val="400"/>
              </a:spcBef>
              <a:defRPr sz="2400" b="1">
                <a:solidFill>
                  <a:srgbClr val="1B365D"/>
                </a:solidFill>
              </a:defRPr>
            </a:pPr>
            <a:r>
              <a:t>Project Objective &amp; Organizational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500" b="1">
                <a:solidFill>
                  <a:srgbClr val="1B365D"/>
                </a:solidFill>
              </a:defRPr>
            </a:pPr>
            <a:r>
              <a:t>▶  The Enterprise Challenge</a:t>
            </a:r>
          </a:p>
          <a:p>
            <a:pPr>
              <a:spcBef>
                <a:spcPts val="200"/>
              </a:spcBef>
              <a:defRPr sz="1250">
                <a:solidFill>
                  <a:srgbClr val="1A202C"/>
                </a:solidFill>
              </a:defRPr>
            </a:pPr>
            <a:r>
              <a:t>Traditional Static Application Security Testing (SAST) tools rely on rigid lexical pattern matching and surface AST rules, producing false-positive rates &gt;60% and missing non-local taint flows across complex methods.</a:t>
            </a:r>
          </a:p>
          <a:p>
            <a:pPr>
              <a:spcBef>
                <a:spcPts val="1200"/>
              </a:spcBef>
              <a:defRPr sz="1500" b="1">
                <a:solidFill>
                  <a:srgbClr val="1B365D"/>
                </a:solidFill>
              </a:defRPr>
            </a:pPr>
            <a:r>
              <a:t>▶  Organizational Data Value</a:t>
            </a:r>
          </a:p>
          <a:p>
            <a:pPr>
              <a:spcBef>
                <a:spcPts val="200"/>
              </a:spcBef>
              <a:defRPr sz="1250">
                <a:solidFill>
                  <a:srgbClr val="1A202C"/>
                </a:solidFill>
              </a:defRPr>
            </a:pPr>
            <a:r>
              <a:t>Source code repositories, commit histories, and security logs represent enterprise data assets. Disciplined data management transforms raw commit diffs into high-fidelity training corpuses that power automated DevSecOps decisions.</a:t>
            </a:r>
          </a:p>
          <a:p>
            <a:pPr>
              <a:spcBef>
                <a:spcPts val="1200"/>
              </a:spcBef>
              <a:defRPr sz="1500" b="1">
                <a:solidFill>
                  <a:srgbClr val="1B365D"/>
                </a:solidFill>
              </a:defRPr>
            </a:pPr>
            <a:r>
              <a:t>▶  Why GraphCodeBERT + Data Flow?</a:t>
            </a:r>
          </a:p>
          <a:p>
            <a:pPr>
              <a:spcBef>
                <a:spcPts val="200"/>
              </a:spcBef>
              <a:defRPr sz="1250">
                <a:solidFill>
                  <a:srgbClr val="1A202C"/>
                </a:solidFill>
              </a:defRPr>
            </a:pPr>
            <a:r>
              <a:t>Standard LLMs treat code purely as flat text. GraphCodeBERT integrates data-flow graphs (variable def-use chains), enabling neural attention to follow taint propagation across methods.</a:t>
            </a:r>
          </a:p>
          <a:p>
            <a:pPr>
              <a:spcBef>
                <a:spcPts val="1200"/>
              </a:spcBef>
              <a:defRPr sz="1500" b="1">
                <a:solidFill>
                  <a:srgbClr val="1B365D"/>
                </a:solidFill>
              </a:defRPr>
            </a:pPr>
            <a:r>
              <a:t>▶  Syllabus Target Requirement</a:t>
            </a:r>
          </a:p>
          <a:p>
            <a:pPr>
              <a:spcBef>
                <a:spcPts val="200"/>
              </a:spcBef>
              <a:defRPr sz="1250">
                <a:solidFill>
                  <a:srgbClr val="1A202C"/>
                </a:solidFill>
              </a:defRPr>
            </a:pPr>
            <a:r>
              <a:t>Master students must demonstrate data governance, quality engineering, and deep learning modeling to achieve an enterprise acceptance threshold of Accuracy &gt;= 93% on strict holdout test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000" b="1">
                <a:solidFill>
                  <a:srgbClr val="1B7A82"/>
                </a:solidFill>
              </a:defRPr>
            </a:pPr>
            <a:r>
              <a:t>LECTURE 1 &amp; 4 — LIFECYCLE ARCHITECTURE</a:t>
            </a:r>
          </a:p>
          <a:p>
            <a:pPr>
              <a:spcBef>
                <a:spcPts val="400"/>
              </a:spcBef>
              <a:defRPr sz="2400" b="1">
                <a:solidFill>
                  <a:srgbClr val="1B365D"/>
                </a:solidFill>
              </a:defRPr>
            </a:pPr>
            <a:r>
              <a:t>Data Lifecycle &amp; DAMA-DMBOK Framework</a:t>
            </a:r>
          </a:p>
        </p:txBody>
      </p:sp>
      <p:pic>
        <p:nvPicPr>
          <p:cNvPr id="3" name="Picture 2" descr="data_lifecycl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69848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6634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</a:defRPr>
            </a:pPr>
            <a:r>
              <a:t>DAMA-DMBOK2 Mapping &amp; Quality Principles:</a:t>
            </a:r>
          </a:p>
          <a:p>
            <a:pPr>
              <a:defRPr sz="1100">
                <a:solidFill>
                  <a:srgbClr val="1A202C"/>
                </a:solidFill>
              </a:defRPr>
            </a:pPr>
            <a:r>
              <a:t>• Data Architecture: Formal relational and graph schemas connecting source commits, AST/DFG graphs, and weakness categories.</a:t>
            </a:r>
            <a:br/>
            <a:r>
              <a:t>• Data Quality: Continuous dimension measurement (Completeness: 100%, Uniqueness: 100%, Validity: 100%).</a:t>
            </a:r>
            <a:br/>
            <a:r>
              <a:t>• Information Value Chain: Raw Java Commits ➔ Verified DFG Tensors ➔ Intelligent Inferences ➔ Automated CI/CD Gating.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000" b="1">
                <a:solidFill>
                  <a:srgbClr val="1B7A82"/>
                </a:solidFill>
              </a:defRPr>
            </a:pPr>
            <a:r>
              <a:t>LECTURES 2 &amp; 6 — GOVERNANCE &amp; SECURITY</a:t>
            </a:r>
          </a:p>
          <a:p>
            <a:pPr>
              <a:spcBef>
                <a:spcPts val="400"/>
              </a:spcBef>
              <a:defRPr sz="2400" b="1">
                <a:solidFill>
                  <a:srgbClr val="1B365D"/>
                </a:solidFill>
              </a:defRPr>
            </a:pPr>
            <a:r>
              <a:t>Data Governance, Security &amp; Ethical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</a:defRPr>
            </a:pPr>
            <a:r>
              <a:t>Data Governance Framework (Lecture 2)</a:t>
            </a:r>
          </a:p>
          <a:p>
            <a:pPr>
              <a:spcBef>
                <a:spcPts val="800"/>
              </a:spcBef>
              <a:defRPr sz="1100">
                <a:solidFill>
                  <a:srgbClr val="1A202C"/>
                </a:solidFill>
              </a:defRPr>
            </a:pPr>
            <a:r>
              <a:t>• Data Ownership: CISO serves as Enterprise Owner; ML Engineers act as Stewards; DBAs/DevOps act as Custodians.</a:t>
            </a:r>
          </a:p>
          <a:p>
            <a:pPr>
              <a:spcBef>
                <a:spcPts val="800"/>
              </a:spcBef>
              <a:defRPr sz="1100">
                <a:solidFill>
                  <a:srgbClr val="1A202C"/>
                </a:solidFill>
              </a:defRPr>
            </a:pPr>
            <a:r>
              <a:t>• RBAC Access Controls: Restricted Enterprise Tier classification. Read-only tokens for testing; encrypted secrets in CI/CD.</a:t>
            </a:r>
          </a:p>
          <a:p>
            <a:pPr>
              <a:spcBef>
                <a:spcPts val="800"/>
              </a:spcBef>
              <a:defRPr sz="1100">
                <a:solidFill>
                  <a:srgbClr val="1A202C"/>
                </a:solidFill>
              </a:defRPr>
            </a:pPr>
            <a:r>
              <a:t>• Ethical &amp; Dual-Use: Vulnerability data is restricted to defensive automation. Prohibits offensive exploit generation or zero-day weaponization.</a:t>
            </a:r>
          </a:p>
          <a:p>
            <a:pPr>
              <a:spcBef>
                <a:spcPts val="800"/>
              </a:spcBef>
              <a:defRPr sz="1100">
                <a:solidFill>
                  <a:srgbClr val="1A202C"/>
                </a:solidFill>
              </a:defRPr>
            </a:pPr>
            <a:r>
              <a:t>• Attribution &amp; Privacy: Developer metadata stripped to prevent developer surveillance and bias against coding idioms.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</a:defRPr>
            </a:pPr>
            <a:r>
              <a:t>Data Security &amp; Risk Mitigation (Lecture 6)</a:t>
            </a:r>
          </a:p>
          <a:p>
            <a:pPr>
              <a:spcBef>
                <a:spcPts val="800"/>
              </a:spcBef>
              <a:defRPr sz="1100">
                <a:solidFill>
                  <a:srgbClr val="1A202C"/>
                </a:solidFill>
              </a:defRPr>
            </a:pPr>
            <a:r>
              <a:t>• Encryption at Rest &amp; Transit: AES-256 encrypted volumes; TLS 1.3 for model weights transfer and Hugging Face API caching.</a:t>
            </a:r>
          </a:p>
          <a:p>
            <a:pPr>
              <a:spcBef>
                <a:spcPts val="800"/>
              </a:spcBef>
              <a:defRPr sz="1100">
                <a:solidFill>
                  <a:srgbClr val="1A202C"/>
                </a:solidFill>
              </a:defRPr>
            </a:pPr>
            <a:r>
              <a:t>• Data Sanitization: Automated scrubbing of hardcoded API keys, DB connection strings, and internal server IPs from training code.</a:t>
            </a:r>
          </a:p>
          <a:p>
            <a:pPr>
              <a:spcBef>
                <a:spcPts val="800"/>
              </a:spcBef>
              <a:defRPr sz="1100">
                <a:solidFill>
                  <a:srgbClr val="1A202C"/>
                </a:solidFill>
              </a:defRPr>
            </a:pPr>
            <a:r>
              <a:t>• Poisoning &amp; Backdoor Defense: SHA-256 cryptographic hashing validates training set integrity against adversarial code injections.</a:t>
            </a:r>
          </a:p>
          <a:p>
            <a:pPr>
              <a:spcBef>
                <a:spcPts val="800"/>
              </a:spcBef>
              <a:defRPr sz="1100">
                <a:solidFill>
                  <a:srgbClr val="1A202C"/>
                </a:solidFill>
              </a:defRPr>
            </a:pPr>
            <a:r>
              <a:t>• Execution Sandboxing: Vulnerability samples are strictly treated as inert text/graphs; no untrusted code execution occurs.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000" b="1">
                <a:solidFill>
                  <a:srgbClr val="1B7A82"/>
                </a:solidFill>
              </a:defRPr>
            </a:pPr>
            <a:r>
              <a:t>LECTURE 3 &amp; 4 — DEEP NEURAL MODELING</a:t>
            </a:r>
          </a:p>
          <a:p>
            <a:pPr>
              <a:spcBef>
                <a:spcPts val="400"/>
              </a:spcBef>
              <a:defRPr sz="2400" b="1">
                <a:solidFill>
                  <a:srgbClr val="1B365D"/>
                </a:solidFill>
              </a:defRPr>
            </a:pPr>
            <a:r>
              <a:t>System Architecture &amp; Data Flow Attention</a:t>
            </a:r>
          </a:p>
        </p:txBody>
      </p:sp>
      <p:pic>
        <p:nvPicPr>
          <p:cNvPr id="3" name="Picture 2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3949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A202C"/>
                </a:solidFill>
              </a:defRPr>
            </a:pPr>
            <a:r>
              <a:t>• Core Innovation: Graph Attention Pooling dynamically weights candidate variable def-use edges via adjacency matrix A.</a:t>
            </a:r>
            <a:br/>
            <a:r>
              <a:t>• Tri-Representation Fusion: Concatenates [CLS] sequence embedding, mean token embedding, and pooled DFG node embedding (2304-D) for robust classification.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000" b="1">
                <a:solidFill>
                  <a:srgbClr val="1B7A82"/>
                </a:solidFill>
              </a:defRPr>
            </a:pPr>
            <a:r>
              <a:t>ENGINEERING RIGOR &amp; PROBLEM SOLVING</a:t>
            </a:r>
          </a:p>
          <a:p>
            <a:pPr>
              <a:spcBef>
                <a:spcPts val="400"/>
              </a:spcBef>
              <a:defRPr sz="2400" b="1">
                <a:solidFill>
                  <a:srgbClr val="1B365D"/>
                </a:solidFill>
              </a:defRPr>
            </a:pPr>
            <a:r>
              <a:t>Technical Obstacles Encountered &amp; Debugging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53030"/>
                </a:solidFill>
              </a:defRPr>
            </a:pPr>
            <a:r>
              <a:t>Problem 1: Campus Network Port 443 Timeout</a:t>
            </a:r>
          </a:p>
          <a:p>
            <a:pPr>
              <a:spcBef>
                <a:spcPts val="400"/>
              </a:spcBef>
              <a:defRPr sz="1000">
                <a:solidFill>
                  <a:srgbClr val="1A202C"/>
                </a:solidFill>
              </a:defRPr>
            </a:pPr>
            <a:r>
              <a:t>• Campus Wi-Fi firewall dropped TCP SYN packets to GitHub frontends (140.82.121.4:443).</a:t>
            </a:r>
            <a:br/>
            <a:r>
              <a:t>• Solution: Engineered local HTTP CONNECT proxy (port 8989) tunneling to reachable Azure edge IP (20.205.243.166).</a:t>
            </a:r>
          </a:p>
        </p:txBody>
      </p:sp>
      <p:pic>
        <p:nvPicPr>
          <p:cNvPr id="4" name="Picture 3" descr="screenshot_error_git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566160"/>
            <a:ext cx="5120640" cy="2834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4630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53030"/>
                </a:solidFill>
              </a:defRPr>
            </a:pPr>
            <a:r>
              <a:t>Problem 2: 4GB GPU VRAM Out-of-Memory</a:t>
            </a:r>
          </a:p>
          <a:p>
            <a:pPr>
              <a:spcBef>
                <a:spcPts val="400"/>
              </a:spcBef>
              <a:defRPr sz="1000">
                <a:solidFill>
                  <a:srgbClr val="1A202C"/>
                </a:solidFill>
              </a:defRPr>
            </a:pPr>
            <a:r>
              <a:t>• Simultaneous 12-layer backprop with L=256 and DFG attention tensors exhausted 4GB VRAM on RTX 3050.</a:t>
            </a:r>
            <a:br/>
            <a:r>
              <a:t>• Solution: Decoupled into staged feature extraction; trained lightweight 4-Head GAT + MLP classifier head.</a:t>
            </a:r>
          </a:p>
        </p:txBody>
      </p:sp>
      <p:pic>
        <p:nvPicPr>
          <p:cNvPr id="6" name="Picture 5" descr="screenshot_error_cuda_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566160"/>
            <a:ext cx="512064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000" b="1">
                <a:solidFill>
                  <a:srgbClr val="1B7A82"/>
                </a:solidFill>
              </a:defRPr>
            </a:pPr>
            <a:r>
              <a:t>LECTURE 7 — ANALYTICS &amp; VERIFICATION</a:t>
            </a:r>
          </a:p>
          <a:p>
            <a:pPr>
              <a:spcBef>
                <a:spcPts val="400"/>
              </a:spcBef>
              <a:defRPr sz="2400" b="1">
                <a:solidFill>
                  <a:srgbClr val="1B365D"/>
                </a:solidFill>
              </a:defRPr>
            </a:pPr>
            <a:r>
              <a:t>Experimental Evaluation &amp; Benchmark Verification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56692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6172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Measured Result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&gt;= 93.0%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94.44% (238/252)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B7A43"/>
                          </a:solidFill>
                        </a:defRPr>
                      </a:pPr>
                      <a:r>
                        <a:t>EXCEEDED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95.73%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HIGH CERTAINTY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Recall (Sens.)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Minimizing FN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92.68% (114/123)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ROBUST DETECTION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Specificity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Minimizing FP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96.12% (124/129)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LOW FALSE ALARMS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Harmonic Mean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94.18%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BALANCED QUALITY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Discrimination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0.9782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OUTSTANDING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Confusion Matrix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 = 252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TN=124, FP=5, FN=9, TP=114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VERIFIED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2468880" cy="2286000"/>
          </a:xfrm>
          <a:prstGeom prst="rect">
            <a:avLst/>
          </a:prstGeom>
        </p:spPr>
      </p:pic>
      <p:pic>
        <p:nvPicPr>
          <p:cNvPr id="5" name="Picture 4" descr="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1463040"/>
            <a:ext cx="246888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393192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365D"/>
                </a:solidFill>
              </a:defRPr>
            </a:pPr>
            <a:r>
              <a:t>Key Analytical Findings:</a:t>
            </a:r>
          </a:p>
          <a:p>
            <a:pPr>
              <a:spcBef>
                <a:spcPts val="300"/>
              </a:spcBef>
              <a:defRPr sz="950">
                <a:solidFill>
                  <a:srgbClr val="1A202C"/>
                </a:solidFill>
              </a:defRPr>
            </a:pPr>
            <a:r>
              <a:t>• Accuracy (94.44%) comfortably surpasses the course target threshold of &gt;= 93.0%.</a:t>
            </a:r>
          </a:p>
          <a:p>
            <a:pPr>
              <a:spcBef>
                <a:spcPts val="300"/>
              </a:spcBef>
              <a:defRPr sz="950">
                <a:solidFill>
                  <a:srgbClr val="1A202C"/>
                </a:solidFill>
              </a:defRPr>
            </a:pPr>
            <a:r>
              <a:t>• Recall reaches 92.68% (only 9 missed vulnerabilities out of 123 in test set).</a:t>
            </a:r>
          </a:p>
          <a:p>
            <a:pPr>
              <a:spcBef>
                <a:spcPts val="300"/>
              </a:spcBef>
              <a:defRPr sz="950">
                <a:solidFill>
                  <a:srgbClr val="1A202C"/>
                </a:solidFill>
              </a:defRPr>
            </a:pPr>
            <a:r>
              <a:t>• Specificity of 96.12% (only 5 false alarms) prevents developer alert fatigue.</a:t>
            </a:r>
          </a:p>
          <a:p>
            <a:pPr>
              <a:spcBef>
                <a:spcPts val="300"/>
              </a:spcBef>
              <a:defRPr sz="950">
                <a:solidFill>
                  <a:srgbClr val="1A202C"/>
                </a:solidFill>
              </a:defRPr>
            </a:pPr>
            <a:r>
              <a:t>• ROC-AUC of 0.9782 demonstrates outstanding discriminatory power across CWEs.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000" b="1">
                <a:solidFill>
                  <a:srgbClr val="1B7A82"/>
                </a:solidFill>
              </a:defRPr>
            </a:pPr>
            <a:r>
              <a:t>CONCLUSION &amp; ORGANIZATIONAL IMPACT</a:t>
            </a:r>
          </a:p>
          <a:p>
            <a:pPr>
              <a:spcBef>
                <a:spcPts val="400"/>
              </a:spcBef>
              <a:defRPr sz="2400" b="1">
                <a:solidFill>
                  <a:srgbClr val="1B365D"/>
                </a:solidFill>
              </a:defRPr>
            </a:pPr>
            <a:r>
              <a:t>Strategic Recommendations &amp; Live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400" b="1">
                <a:solidFill>
                  <a:srgbClr val="1B365D"/>
                </a:solidFill>
              </a:defRPr>
            </a:pPr>
            <a:r>
              <a:t>✓  CI/CD Integration</a:t>
            </a:r>
          </a:p>
          <a:p>
            <a:pPr>
              <a:spcBef>
                <a:spcPts val="200"/>
              </a:spcBef>
              <a:defRPr sz="1150">
                <a:solidFill>
                  <a:srgbClr val="1A202C"/>
                </a:solidFill>
              </a:defRPr>
            </a:pPr>
            <a:r>
              <a:t>Integrate the GraphCodeBERT + Data Flow Classifier into GitHub Actions / GitLab CI pipelines as an automated gate blocking vulnerable pull requests.</a:t>
            </a:r>
          </a:p>
          <a:p>
            <a:pPr>
              <a:spcBef>
                <a:spcPts val="1000"/>
              </a:spcBef>
              <a:defRPr sz="1400" b="1">
                <a:solidFill>
                  <a:srgbClr val="1B365D"/>
                </a:solidFill>
              </a:defRPr>
            </a:pPr>
            <a:r>
              <a:t>✓  Continuous Data Governance</a:t>
            </a:r>
          </a:p>
          <a:p>
            <a:pPr>
              <a:spcBef>
                <a:spcPts val="200"/>
              </a:spcBef>
              <a:defRPr sz="1150">
                <a:solidFill>
                  <a:srgbClr val="1A202C"/>
                </a:solidFill>
              </a:defRPr>
            </a:pPr>
            <a:r>
              <a:t>Implement feedback loops where AppSec triage results are ingested as new training pairs, maintaining ISO 25012 data quality standards.</a:t>
            </a:r>
          </a:p>
          <a:p>
            <a:pPr>
              <a:spcBef>
                <a:spcPts val="1000"/>
              </a:spcBef>
              <a:defRPr sz="1400" b="1">
                <a:solidFill>
                  <a:srgbClr val="1B365D"/>
                </a:solidFill>
              </a:defRPr>
            </a:pPr>
            <a:r>
              <a:t>✓  Limitations &amp; Future Work</a:t>
            </a:r>
          </a:p>
          <a:p>
            <a:pPr>
              <a:spcBef>
                <a:spcPts val="200"/>
              </a:spcBef>
              <a:defRPr sz="1150">
                <a:solidFill>
                  <a:srgbClr val="1A202C"/>
                </a:solidFill>
              </a:defRPr>
            </a:pPr>
            <a:r>
              <a:t>Current intra-procedural scope can be extended to inter-procedural whole-program call graphs, and generative patch synthesis using CodeT5.</a:t>
            </a:r>
          </a:p>
          <a:p>
            <a:pPr>
              <a:spcBef>
                <a:spcPts val="1000"/>
              </a:spcBef>
              <a:defRPr sz="1400" b="1">
                <a:solidFill>
                  <a:srgbClr val="1B365D"/>
                </a:solidFill>
              </a:defRPr>
            </a:pPr>
            <a:r>
              <a:t>✓  Compliance &amp; Reproducibility</a:t>
            </a:r>
          </a:p>
          <a:p>
            <a:pPr>
              <a:spcBef>
                <a:spcPts val="200"/>
              </a:spcBef>
              <a:defRPr sz="1150">
                <a:solidFill>
                  <a:srgbClr val="1A202C"/>
                </a:solidFill>
              </a:defRPr>
            </a:pPr>
            <a:r>
              <a:t>The full submission package—runnable Python pipeline, Jupyter Notebook, Word report, presentation, and evaluation metrics—is publicly accessible at: https://github.com/Tasik1/kbtu-mood-midterm-team2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