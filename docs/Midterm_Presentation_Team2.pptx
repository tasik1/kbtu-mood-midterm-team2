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2"/>
          </a:solidFill>
          <a:ln>
            <a:solidFill>
              <a:srgbClr val="0F2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B3ED"/>
                </a:solidFill>
              </a:defRPr>
            </a:pPr>
            <a:r>
              <a:t>KAZAKH-BRITISH TECHNICAL UNIVERSITY | MASTER'S PROGRAMME 2026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Java Source Code Vulnerability Detection</a:t>
            </a:r>
          </a:p>
          <a:p>
            <a:pPr>
              <a:spcBef>
                <a:spcPts val="800"/>
              </a:spcBef>
              <a:defRPr sz="1800">
                <a:solidFill>
                  <a:srgbClr val="E2E8F0"/>
                </a:solidFill>
              </a:defRPr>
            </a:pPr>
            <a:r>
              <a:t>Primary: GraphCodeBERT + Data Flow Classifier | Alternative: Frozen Embeddings + Random Forest</a:t>
            </a:r>
          </a:p>
          <a:p>
            <a:pPr>
              <a:spcBef>
                <a:spcPts val="2800"/>
              </a:spcBef>
              <a:defRPr sz="1400">
                <a:solidFill>
                  <a:srgbClr val="CBD5E0"/>
                </a:solidFill>
              </a:defRPr>
            </a:pPr>
            <a:r>
              <a:t>Team 2: Bidaishiev Shyntas (25MD0291) • Ibragim Anzir (25MD0311) • Ardak Aruzhan (25MD0308) • Amanbayev Farkhad (25MD0304)</a:t>
            </a:r>
          </a:p>
          <a:p>
            <a:pPr>
              <a:spcBef>
                <a:spcPts val="1000"/>
              </a:spcBef>
              <a:defRPr sz="1200" i="1">
                <a:solidFill>
                  <a:srgbClr val="A0AEC0"/>
                </a:solidFill>
              </a:defRPr>
            </a:pPr>
            <a:r>
              <a:t>Course: Management of Organizational Data (MoOD) | Repository: https://github.com/Tasik1/kbtu-mood-midterm-team2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PROJECT GOVERNANCE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Team 2: Member Roles &amp; Defense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514600" cy="118872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Bidaishiev Shyntas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25MD0291 • Team Lead &amp; Data Architect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Repository architecture &amp; Git governance (under Tasik1)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End-to-end ETL &amp; automated data validation pipeline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DAMA-DMBOK Data Lifecycle &amp; Information Value Chain modeling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Production orchestrator script &amp; dependency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Ibragim Anzir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25MD0311 • Lead AI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GraphCodeBERT backbone integration (microsoft/graphcodebert-base)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Java Data Flow Graph (DFG) def-use extraction module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Adjacency-guided multi-head graph attention pooling layer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End-to-end primary classifier head training &amp; tuning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Ardak Aruzhan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25MD0308 • Data Governance Officer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Data ownership, access controls (RBAC) &amp; legal policies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ISO/IEC 25012 data quality audit (Completeness, Validity)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Ethical dual-use mitigation &amp; developer de-identification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CWE taxonomy mapping and class imbalance assessment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Amanbayev Farkhad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25MD0304 • Evaluation &amp; Baseline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Alternative model (Frozen Embeddings + Random Forest) design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Holdout test evaluation (Accuracy &gt;= 93%, F1, ROC-AUC)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Confusion matrix &amp; error case diagnostic analysis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Technical report &amp; slide deck compilation for live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— ORGANIZATIONAL DATA MANAGEMENT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Project Objective &amp; Organizational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The Enterprise Challenge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Traditional Static Application Security Testing (SAST) tools rely on rigid AST pattern matching, resulting in overwhelming false-positive rates (&gt;60%) and an inability to understand non-local data-flow semantics.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Organizational Data Value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Vulnerability datasets from historical git commits represent critical organizational assets. Effective data management transforms raw source code into high-fidelity training corpuses that power automated DevSecOps decisions.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Why GraphCodeBERT?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Standard LLMs (like CodeBERT or RoBERTa) treat code purely as a flat lexical sequence. GraphCodeBERT integrates data-flow graphs (variable def-use chains), enabling neural attention to follow taint propagation across methods.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Primary vs. Alternative Mandate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Master students must evaluate technological trade-offs: full transformer graph attention (Primary) vs. frozen embeddings with lightweight ensemble trees (Alternative) based on enterprise compute budgets.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&amp; 4 — LIFECYCLE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Lifecycle &amp; DAMA-DMBOK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1. Acquisition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Ingest git commit streams</a:t>
            </a:r>
            <a:br/>
            <a:r>
              <a:t>(1,334 Java functions)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2. Validation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Schema &amp; binary target</a:t>
            </a:r>
            <a:br/>
            <a:r>
              <a:t>verification (100% clean)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011680"/>
            <a:ext cx="1417320" cy="2194560"/>
          </a:xfrm>
          <a:prstGeom prst="roundRect">
            <a:avLst/>
          </a:prstGeom>
          <a:solidFill>
            <a:srgbClr val="EBF3F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20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3. Storage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Staged JSONL lakehouse</a:t>
            </a:r>
            <a:br/>
            <a:r>
              <a:t>(Strict split isolation)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59" y="2011680"/>
            <a:ext cx="1417320" cy="2194560"/>
          </a:xfrm>
          <a:prstGeom prst="roundRect">
            <a:avLst/>
          </a:prstGeom>
          <a:solidFill>
            <a:srgbClr val="D1E7D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40679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4. Transform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DFG variable extraction</a:t>
            </a:r>
            <a:br/>
            <a:r>
              <a:t>&amp; (K x K) def-use matrix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49440" y="2011680"/>
            <a:ext cx="1417320" cy="2194560"/>
          </a:xfrm>
          <a:prstGeom prst="roundRect">
            <a:avLst/>
          </a:prstGeom>
          <a:solidFill>
            <a:srgbClr val="D1E7D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5. Training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GraphCodeBERT encoder</a:t>
            </a:r>
            <a:br/>
            <a:r>
              <a:t>+ Graph attention head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011680"/>
            <a:ext cx="1417320" cy="2194560"/>
          </a:xfrm>
          <a:prstGeom prst="roundRect">
            <a:avLst/>
          </a:prstGeom>
          <a:solidFill>
            <a:srgbClr val="FFF3C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6. Evaluation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Accuracy &gt;= 93% target</a:t>
            </a:r>
            <a:br/>
            <a:r>
              <a:t>+ ROC-AUC &amp; Confusion Mtx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2011680"/>
            <a:ext cx="1417320" cy="2194560"/>
          </a:xfrm>
          <a:prstGeom prst="roundRect">
            <a:avLst/>
          </a:prstGeom>
          <a:solidFill>
            <a:srgbClr val="F8D7DA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2148840"/>
            <a:ext cx="1325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65D"/>
                </a:solidFill>
              </a:defRPr>
            </a:pPr>
            <a:r>
              <a:t>7. Retention</a:t>
            </a:r>
          </a:p>
          <a:p>
            <a:pPr>
              <a:spcBef>
                <a:spcPts val="800"/>
              </a:spcBef>
              <a:defRPr sz="950">
                <a:solidFill>
                  <a:srgbClr val="1A202C"/>
                </a:solidFill>
              </a:defRPr>
            </a:pPr>
            <a:r>
              <a:t>ISO 27001 audit archival</a:t>
            </a:r>
            <a:br/>
            <a:r>
              <a:t>&amp; credential sanitization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</a:defRPr>
            </a:pPr>
            <a:r>
              <a:t>DAMA-DMBOK2 Mapping:</a:t>
            </a:r>
          </a:p>
          <a:p>
            <a:pPr>
              <a:defRPr sz="1100">
                <a:solidFill>
                  <a:srgbClr val="1A202C"/>
                </a:solidFill>
              </a:defRPr>
            </a:pPr>
            <a:r>
              <a:t>• Data Architecture: Formal relational and graph schemas connecting source commits, AST/DFG graphs, and weakness categories.</a:t>
            </a:r>
            <a:br/>
            <a:r>
              <a:t>• Data Quality: Continuous dimension measurement (Completeness: 100%, Uniqueness: 100%, Validity: 100%).</a:t>
            </a:r>
            <a:br/>
            <a:r>
              <a:t>• Information Value Chain: Raw Java Commits ➔ Verified DFG Tensors ➔ Intelligent Inferences ➔ Automated CI/CD Gating.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LECTURES 2 &amp; 6 — GOVERNANCE &amp; SECURITY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Governance, Security &amp; Ethical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Governance Framework (Lecture 2)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Ownership: CISO serves as Enterprise Owner; ML Engineers act as Stewards; DBAs/DevOps act as Custodians.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RBAC Access Controls: Restricted Enterprise Tier classification. Read-only tokens for testing; encrypted secrets in CI/CD.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Ethical &amp; Dual-Use: Vulnerability data is restricted to defensive automation. Prohibits offensive exploit generation or zero-day weaponization.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Attribution &amp; Privacy: Developer metadata stripped to prevent developer surveillance and bias against coding idioms.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Security &amp; Risk Mitigation (Lecture 6)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Encryption at Rest &amp; Transit: AES-256 encrypted volumes; TLS 1.3 for model weights transfer and Hugging Face API caching.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Sanitization: Automated scrubbing of hardcoded API keys, DB connection strings, and internal server IPs from training code.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Poisoning &amp; Backdoor Defense: SHA-256 cryptographic hashing validates training set integrity against adversarial code injections.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Execution Sandboxing: Vulnerability samples are strictly treated as inert text/graphs; no untrusted code execution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3 &amp; 4 — DATA FLOW SEMANTICS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Modeling &amp; Data Flow Graph (DFG)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Conceptual Entity Model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Formalized relational model spanning DATASET_SPLIT, JAVA_FUNCTION, DATA_FLOW_GRAPH, CWE_CATALOG, VULNERABILITY_LABEL, and MODEL_EXPERIMENT.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What is a Data Flow Graph?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A directed semantic graph where nodes represent variables (e.g. 'userInput', 'query', 'stmt') and edges represent def-use dependencies ('where does the value of this variable originate?').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DFG Extractor Implementation (midterm/models/data_flow_extractor.py)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Lexical scanner extracts candidate variables, tracks assignment definitions (def), conditional/method usages (use), and builds a (K x K) binary adjacency matrix A.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▶  Why Data Flow Detects Vulnerabilities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Vulnerabilities such as SQL injection (CWE-89), XSS (CWE-79), and Path Traversal (CWE-22) are fundamentally data-flow flaws: tainted untrusted input reaches an execution sink without intermediate sanitization.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AI MODELING — TEAM 2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Primary vs. Alternative Model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82296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PRIMARY METHOD: GraphCodeBERT + DFG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Backbone: microsoft/graphcodebert-base (125M parameters, 12 layers).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DFG Attention Pooling: 4-head attention over variable nodes constrained by Def-Use Adjacency matrix A.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Tri-Representation Fusion: Concatenation [CLS || Code-Mean || DFG-Pool] = 2,304 dimensions.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Classifier Head: LayerNorm -&gt; Linear(2304-&gt;512) -&gt; GELU -&gt; Dropout -&gt; Linear(512-&gt;128) -&gt; Linear(128-&gt;2).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Primary Goal: Maximum discriminative power, low false negatives on complex taint paths.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1B7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120640" cy="822960"/>
          </a:xfrm>
          <a:prstGeom prst="rect">
            <a:avLst/>
          </a:prstGeom>
          <a:solidFill>
            <a:srgbClr val="1B7A82"/>
          </a:solidFill>
          <a:ln>
            <a:solidFill>
              <a:srgbClr val="1B7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40"/>
            <a:ext cx="49377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ALTERNATIVE METHOD: Frozen Embeddings + Random Forest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5603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Backbone: GraphCodeBERT with frozen weights (zero backpropagation memory).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Feature Vector: 2,304-dimensional fused representation extracted in single forward pass.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Classifier Head: Random Forest ensemble (300 estimators, max depth 16, balanced class weights).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Resource Advantage: 95% reduction in inference memory; sub-30ms latency per function.</a:t>
            </a:r>
          </a:p>
          <a:p>
            <a:pPr>
              <a:spcBef>
                <a:spcPts val="600"/>
              </a:spcBef>
              <a:defRPr sz="1050">
                <a:solidFill>
                  <a:srgbClr val="1A202C"/>
                </a:solidFill>
              </a:defRPr>
            </a:pPr>
            <a:r>
              <a:t>• Primary Goal: Lightweight screening in pre-commit git hooks and edge environments.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7 — ANALYTICS &amp; VERIFICATION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Experimental Evaluation &amp; 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6583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736"/>
                <a:gridCol w="1316736"/>
                <a:gridCol w="1316736"/>
                <a:gridCol w="1316736"/>
                <a:gridCol w="1316736"/>
              </a:tblGrid>
              <a:tr h="731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Primary (GraphCodeBERT)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Alternative (Frozen+RF)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94.44%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88.49%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+5.95%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B7A43"/>
                          </a:solidFill>
                        </a:defRPr>
                      </a:pPr>
                      <a:r>
                        <a:t>&gt;= 93.0% (EXCEEDED)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89.83%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+5.90%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92.68%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86.18%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+6.50%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Low false negatives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94.18%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87.97%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+6.21%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Balanced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0.9782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0.9486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+0.0296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Superior ranking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589520" y="16459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Key Analytical Insights: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Requirement Exceeded: Primary model achieves 94.44% Accuracy, comfortably surpassing the syllabus threshold of &gt;= 93%.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Low False Negative Liability: Recall reaches 92.68% (only 9 missed vulnerabilities out of 123), critical for production security.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Data Flow Value: Adding DFG attention yields a +5.95% accuracy boost over the non-fine-tuned alternative.</a:t>
            </a:r>
          </a:p>
          <a:p>
            <a:pPr>
              <a:spcBef>
                <a:spcPts val="800"/>
              </a:spcBef>
              <a:defRPr sz="1000">
                <a:solidFill>
                  <a:srgbClr val="1A202C"/>
                </a:solidFill>
              </a:defRPr>
            </a:pPr>
            <a:r>
              <a:t>▶ Discriminative Power: ROC-AUC of 0.9782 demonstrates exceptional probability calibration across diverse CWE vulnerability types.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CONCLUSION &amp; ORGANIZATIONAL IMPACT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Strategic Recommendations &amp; Live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Tiered DevSecOps Deployment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Deploy the lightweight Random Forest classifier inside developer IDEs / pre-commit hooks (&lt;30ms). Route candidate vulnerable functions to the primary GraphCodeBERT + DFG classifier at PR merge gating.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Continuous Data Governance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Implement feedback loops where AppSec triage results are ingested as new training pairs, maintaining ISO 25012 data quality standards.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Compliance &amp; Reproducibility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The full submission package—runnable Python pipeline, Jupyter Notebook, Word report, presentation, and evaluation metrics—is publicly accessible at: https://github.com/Tasik1/kbtu-mood-midterm-team2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Live Demonstration Ready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Individual team members are prepared to demonstrate data ETL, graph extraction, model inference, and defense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